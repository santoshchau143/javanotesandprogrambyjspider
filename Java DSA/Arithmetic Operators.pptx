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3"/>
  </p:notesMasterIdLst>
  <p:sldIdLst>
    <p:sldId id="358" r:id="rId3"/>
    <p:sldId id="339" r:id="rId4"/>
    <p:sldId id="280" r:id="rId5"/>
    <p:sldId id="340" r:id="rId6"/>
    <p:sldId id="341" r:id="rId7"/>
    <p:sldId id="342" r:id="rId8"/>
    <p:sldId id="359" r:id="rId9"/>
    <p:sldId id="380" r:id="rId10"/>
    <p:sldId id="360" r:id="rId11"/>
    <p:sldId id="3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BF96F"/>
    <a:srgbClr val="00FF00"/>
    <a:srgbClr val="E1CFE3"/>
    <a:srgbClr val="E8E8E8"/>
    <a:srgbClr val="D4FCE1"/>
    <a:srgbClr val="3FF37B"/>
    <a:srgbClr val="5DF590"/>
    <a:srgbClr val="57FB57"/>
    <a:srgbClr val="5CE2DF"/>
    <a:srgbClr val="C9A8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80" autoAdjust="0"/>
    <p:restoredTop sz="94660"/>
  </p:normalViewPr>
  <p:slideViewPr>
    <p:cSldViewPr>
      <p:cViewPr varScale="1">
        <p:scale>
          <a:sx n="74" d="100"/>
          <a:sy n="74" d="100"/>
        </p:scale>
        <p:origin x="1364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mbhu Kumar" userId="74963117abc18628" providerId="LiveId" clId="{9DAC188B-748D-4CEB-9C49-D4E70EE7B328}"/>
    <pc:docChg chg="undo custSel addSld delSld modSld">
      <pc:chgData name="Shambhu Kumar" userId="74963117abc18628" providerId="LiveId" clId="{9DAC188B-748D-4CEB-9C49-D4E70EE7B328}" dt="2026-07-11T00:23:02.840" v="199" actId="14100"/>
      <pc:docMkLst>
        <pc:docMk/>
      </pc:docMkLst>
      <pc:sldChg chg="modSp add mod">
        <pc:chgData name="Shambhu Kumar" userId="74963117abc18628" providerId="LiveId" clId="{9DAC188B-748D-4CEB-9C49-D4E70EE7B328}" dt="2026-07-11T00:23:02.840" v="199" actId="14100"/>
        <pc:sldMkLst>
          <pc:docMk/>
          <pc:sldMk cId="2309880117" sldId="361"/>
        </pc:sldMkLst>
        <pc:spChg chg="mod">
          <ac:chgData name="Shambhu Kumar" userId="74963117abc18628" providerId="LiveId" clId="{9DAC188B-748D-4CEB-9C49-D4E70EE7B328}" dt="2026-07-11T00:23:02.840" v="199" actId="14100"/>
          <ac:spMkLst>
            <pc:docMk/>
            <pc:sldMk cId="2309880117" sldId="361"/>
            <ac:spMk id="7" creationId="{2FB84661-F1D3-C3F7-997A-3E02F402CA4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F16E5BE-86F4-4781-A599-A1C725C77E86}" type="datetimeFigureOut">
              <a:rPr lang="en-IN" smtClean="0"/>
              <a:t>11-07-2026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5676E12-E99D-4A7C-B4B6-D436B12548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28430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E097E8-E87D-49E0-B824-FA76C51EC0B1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80D61-7133-40EA-9154-9E38EF08ACDD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10B8EC-12AA-4F5A-B4AC-D9BDE9A7EAEA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0F8027-FCAF-47C3-BB8A-1C5D6892781D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E46D83-B1C4-431E-8C70-FC0ACAAF2B0C}" type="datetime1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C879AF-37D4-44AF-8108-81779E82DE53}" type="datetime1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05A24-BF73-43C2-854E-A6BE44B8DCC6}" type="datetime1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589442-C5E8-40B9-A2D3-33DF2FF8ECAD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1DEADB-2B6F-490D-B938-B7062C5FFAA8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49E83D-EEC6-4008-B797-3BB73BD14791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54E113-20F4-42BE-8646-3DD73B96193C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39B35-7AC3-448E-85F6-B3F0DAC7D9B5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40111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6D9B9-BB67-4C5D-8668-FF792403C42D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22813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694F5-B965-4A79-AC50-DAA234585E0B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977102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F60B9A-E821-4900-ADEC-C57BA23E0AA9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809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CEA1E5-A2B9-4546-84D2-B35C40D2C483}" type="datetime1">
              <a:rPr lang="en-US" smtClean="0"/>
              <a:t>7/11/2026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97964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EAA6F1-B4BA-4DE3-A5FE-31B8E70E3190}" type="datetime1">
              <a:rPr lang="en-US" smtClean="0"/>
              <a:t>7/11/2026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03725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929A47-07F8-4CF8-8CDB-25A0C2CB9326}" type="datetime1">
              <a:rPr lang="en-US" smtClean="0"/>
              <a:t>7/11/2026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0063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25AA37-243C-4132-AD67-9A83079DC9E4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461736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EC650D-EE92-4A56-98F6-145B26863010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6542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B48347-51E0-42F4-B9D6-8C06F35C6360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62842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B5E0EC-D03E-4F97-82D9-9908EAAE7228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55017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97F223-F3FB-450C-90AD-A40B2A012029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Shambhu Kumar @QSpiders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A09516-CB4D-4958-96BC-404885A15E0D}" type="datetime1">
              <a:rPr lang="en-US" smtClean="0"/>
              <a:t>7/11/2026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pt-BR"/>
              <a:t>Shambhu Kumar @QSpiders, NOIDA          Instagram: @javac_java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83660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dd-two-integers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calculate-delayed-arrival-time/" TargetMode="Externa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find-the-maximum-achievable-numbe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leetcode.com/problems/account-balance-after-rounded-purchase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6F47-6F06-2864-7FFE-CF3D7C29F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765477D-8A08-C68E-CC61-BD8052F5BC76}"/>
              </a:ext>
            </a:extLst>
          </p:cNvPr>
          <p:cNvSpPr/>
          <p:nvPr/>
        </p:nvSpPr>
        <p:spPr>
          <a:xfrm>
            <a:off x="0" y="9596"/>
            <a:ext cx="9144000" cy="2897506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QSpiders|JSpiders|PySpiders, NOIDA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B-4, Block-B, Sector-3, Noida </a:t>
            </a:r>
            <a:endParaRPr lang="en-IN" sz="16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228600"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3200" b="1" u="sng" dirty="0">
                <a:solidFill>
                  <a:srgbClr val="0070C0"/>
                </a:solidFill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Arithmetic Operator Programming</a:t>
            </a:r>
            <a:r>
              <a:rPr lang="en-IN" sz="32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2800" b="1" u="sng" dirty="0">
                <a:solidFill>
                  <a:srgbClr val="0070C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Questions by </a:t>
            </a:r>
            <a:r>
              <a:rPr lang="en-IN" sz="2800" b="1" u="sng" dirty="0">
                <a:solidFill>
                  <a:srgbClr val="002060"/>
                </a:solidFill>
                <a:effectLst/>
                <a:highlight>
                  <a:srgbClr val="D3D3D3"/>
                </a:highlight>
                <a:ea typeface="Times New Roman" panose="02020603050405020304" pitchFamily="18" charset="0"/>
                <a:cs typeface="Times New Roman" panose="02020603050405020304" pitchFamily="18" charset="0"/>
              </a:rPr>
              <a:t>Shambhu Sir</a:t>
            </a:r>
            <a:endParaRPr lang="en-IN" sz="14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400" b="1" u="sng" dirty="0">
                <a:solidFill>
                  <a:srgbClr val="222A35"/>
                </a:solidFill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Monday, 11 August 2025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0A9ACFC-4BE4-9A68-C396-4392FB3B5385}"/>
              </a:ext>
            </a:extLst>
          </p:cNvPr>
          <p:cNvSpPr/>
          <p:nvPr/>
        </p:nvSpPr>
        <p:spPr>
          <a:xfrm>
            <a:off x="592042" y="2399982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@javac_java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599000F3-E3DE-7871-C24F-1E28783DE5C7}"/>
              </a:ext>
            </a:extLst>
          </p:cNvPr>
          <p:cNvSpPr/>
          <p:nvPr/>
        </p:nvSpPr>
        <p:spPr>
          <a:xfrm>
            <a:off x="6477000" y="2399981"/>
            <a:ext cx="2304415" cy="380365"/>
          </a:xfrm>
          <a:prstGeom prst="rect">
            <a:avLst/>
          </a:prstGeom>
          <a:solidFill>
            <a:srgbClr val="6B914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1800" b="1" dirty="0">
                <a:effectLst/>
                <a:ea typeface="Times New Roman" panose="02020603050405020304" pitchFamily="18" charset="0"/>
                <a:cs typeface="Times New Roman" panose="02020603050405020304" pitchFamily="18" charset="0"/>
              </a:rPr>
              <a:t>      @kumarsam07</a:t>
            </a:r>
            <a:endParaRPr lang="en-IN" sz="1200" dirty="0">
              <a:effectLst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20" name="Google Shape;9534;p142">
            <a:extLst>
              <a:ext uri="{FF2B5EF4-FFF2-40B4-BE49-F238E27FC236}">
                <a16:creationId xmlns:a16="http://schemas.microsoft.com/office/drawing/2014/main" id="{57D9F9C4-A6CA-254B-FA6A-73A282692BFF}"/>
              </a:ext>
            </a:extLst>
          </p:cNvPr>
          <p:cNvGrpSpPr/>
          <p:nvPr/>
        </p:nvGrpSpPr>
        <p:grpSpPr>
          <a:xfrm>
            <a:off x="592042" y="2399981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1" name="Google Shape;9535;p142">
              <a:extLst>
                <a:ext uri="{FF2B5EF4-FFF2-40B4-BE49-F238E27FC236}">
                  <a16:creationId xmlns:a16="http://schemas.microsoft.com/office/drawing/2014/main" id="{B1491C04-E2B4-8F6B-E359-1E098810F462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2" name="Google Shape;9536;p142">
              <a:extLst>
                <a:ext uri="{FF2B5EF4-FFF2-40B4-BE49-F238E27FC236}">
                  <a16:creationId xmlns:a16="http://schemas.microsoft.com/office/drawing/2014/main" id="{F756B542-321D-C2CC-7A66-80C5907FAA2B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3" name="Google Shape;9537;p142">
              <a:extLst>
                <a:ext uri="{FF2B5EF4-FFF2-40B4-BE49-F238E27FC236}">
                  <a16:creationId xmlns:a16="http://schemas.microsoft.com/office/drawing/2014/main" id="{BFFB8383-82CC-7F0B-AF20-C5B712C23846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grpSp>
        <p:nvGrpSpPr>
          <p:cNvPr id="24" name="Google Shape;9534;p142">
            <a:extLst>
              <a:ext uri="{FF2B5EF4-FFF2-40B4-BE49-F238E27FC236}">
                <a16:creationId xmlns:a16="http://schemas.microsoft.com/office/drawing/2014/main" id="{4F347E3F-FD1D-7B32-912E-243C1A7F7CC7}"/>
              </a:ext>
            </a:extLst>
          </p:cNvPr>
          <p:cNvGrpSpPr/>
          <p:nvPr/>
        </p:nvGrpSpPr>
        <p:grpSpPr>
          <a:xfrm>
            <a:off x="6477000" y="2389455"/>
            <a:ext cx="387350" cy="387350"/>
            <a:chOff x="0" y="0"/>
            <a:chExt cx="397866" cy="397887"/>
          </a:xfrm>
          <a:solidFill>
            <a:srgbClr val="FFC000"/>
          </a:solidFill>
        </p:grpSpPr>
        <p:sp>
          <p:nvSpPr>
            <p:cNvPr id="25" name="Google Shape;9535;p142">
              <a:extLst>
                <a:ext uri="{FF2B5EF4-FFF2-40B4-BE49-F238E27FC236}">
                  <a16:creationId xmlns:a16="http://schemas.microsoft.com/office/drawing/2014/main" id="{6E37BABF-AED9-D3F1-4653-314EF77EB1F7}"/>
                </a:ext>
              </a:extLst>
            </p:cNvPr>
            <p:cNvSpPr/>
            <p:nvPr/>
          </p:nvSpPr>
          <p:spPr>
            <a:xfrm>
              <a:off x="70706" y="7072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6" name="Google Shape;9536;p142">
              <a:extLst>
                <a:ext uri="{FF2B5EF4-FFF2-40B4-BE49-F238E27FC236}">
                  <a16:creationId xmlns:a16="http://schemas.microsoft.com/office/drawing/2014/main" id="{244D19B3-2A3B-4CE9-0188-1002493FC02E}"/>
                </a:ext>
              </a:extLst>
            </p:cNvPr>
            <p:cNvSpPr/>
            <p:nvPr/>
          </p:nvSpPr>
          <p:spPr>
            <a:xfrm>
              <a:off x="140618" y="14066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  <p:sp>
          <p:nvSpPr>
            <p:cNvPr id="27" name="Google Shape;9537;p142">
              <a:extLst>
                <a:ext uri="{FF2B5EF4-FFF2-40B4-BE49-F238E27FC236}">
                  <a16:creationId xmlns:a16="http://schemas.microsoft.com/office/drawing/2014/main" id="{D6E16ABC-23F7-5A70-8141-5384D19B1367}"/>
                </a:ext>
              </a:extLst>
            </p:cNvPr>
            <p:cNvSpPr/>
            <p:nvPr/>
          </p:nvSpPr>
          <p:spPr>
            <a:xfrm>
              <a:off x="0" y="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 lang="en-IN"/>
            </a:p>
          </p:txBody>
        </p:sp>
      </p:grp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5A29E1F8-00C3-04A0-8E9A-1E2DDCC58875}"/>
              </a:ext>
            </a:extLst>
          </p:cNvPr>
          <p:cNvSpPr/>
          <p:nvPr/>
        </p:nvSpPr>
        <p:spPr>
          <a:xfrm>
            <a:off x="152400" y="2953928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  <p:sp>
        <p:nvSpPr>
          <p:cNvPr id="31" name="Slide Number Placeholder 4">
            <a:extLst>
              <a:ext uri="{FF2B5EF4-FFF2-40B4-BE49-F238E27FC236}">
                <a16:creationId xmlns:a16="http://schemas.microsoft.com/office/drawing/2014/main" id="{E05B2531-DB0F-DB57-D774-B013E0C23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44049" y="3439323"/>
            <a:ext cx="1600200" cy="1143000"/>
          </a:xfrm>
        </p:spPr>
        <p:txBody>
          <a:bodyPr/>
          <a:lstStyle/>
          <a:p>
            <a:r>
              <a:rPr lang="en-US" sz="5400" b="1" dirty="0">
                <a:solidFill>
                  <a:schemeClr val="tx1"/>
                </a:solidFill>
              </a:rPr>
              <a:t>Q:</a:t>
            </a:r>
            <a:fld id="{B6F15528-21DE-4FAA-801E-634DDDAF4B2B}" type="slidenum">
              <a:rPr lang="en-US" sz="5400" b="1" smtClean="0">
                <a:solidFill>
                  <a:schemeClr val="tx1"/>
                </a:solidFill>
              </a:rPr>
              <a:pPr/>
              <a:t>1</a:t>
            </a:fld>
            <a:endParaRPr lang="en-US" sz="5400" b="1" dirty="0">
              <a:solidFill>
                <a:schemeClr val="tx1"/>
              </a:solidFill>
            </a:endParaRPr>
          </a:p>
        </p:txBody>
      </p:sp>
      <p:sp>
        <p:nvSpPr>
          <p:cNvPr id="33" name="Footer Placeholder 3">
            <a:extLst>
              <a:ext uri="{FF2B5EF4-FFF2-40B4-BE49-F238E27FC236}">
                <a16:creationId xmlns:a16="http://schemas.microsoft.com/office/drawing/2014/main" id="{C6D14136-9C73-81BA-DD6D-CA4F64FBB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761807" y="6455266"/>
            <a:ext cx="2895600" cy="365125"/>
          </a:xfrm>
        </p:spPr>
        <p:txBody>
          <a:bodyPr/>
          <a:lstStyle/>
          <a:p>
            <a:r>
              <a:rPr lang="es-ES" dirty="0"/>
              <a:t>Shambhu Kumar QSpiders | JSpiders, NOIDA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3431C72-22D5-1FB0-C8E0-AB2BDB56E9C8}"/>
              </a:ext>
            </a:extLst>
          </p:cNvPr>
          <p:cNvSpPr txBox="1"/>
          <p:nvPr/>
        </p:nvSpPr>
        <p:spPr>
          <a:xfrm>
            <a:off x="749770" y="3958659"/>
            <a:ext cx="7776248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00FF00"/>
                </a:solidFill>
              </a:rPr>
              <a:t>For a given number int n=5783;</a:t>
            </a:r>
          </a:p>
          <a:p>
            <a:pPr marL="514350" indent="-514350">
              <a:buAutoNum type="alphaLcPeriod"/>
            </a:pPr>
            <a:r>
              <a:rPr lang="en-US" sz="2800" b="1" dirty="0">
                <a:solidFill>
                  <a:srgbClr val="00FF00"/>
                </a:solidFill>
              </a:rPr>
              <a:t>Print the last digit of the number</a:t>
            </a:r>
          </a:p>
          <a:p>
            <a:pPr marL="514350" indent="-514350">
              <a:buAutoNum type="alphaLcPeriod"/>
            </a:pPr>
            <a:r>
              <a:rPr lang="en-US" sz="2800" b="1" dirty="0">
                <a:solidFill>
                  <a:srgbClr val="00FF00"/>
                </a:solidFill>
              </a:rPr>
              <a:t>Print the last two digit of the number</a:t>
            </a:r>
          </a:p>
          <a:p>
            <a:pPr marL="514350" indent="-514350">
              <a:buAutoNum type="alphaLcPeriod"/>
            </a:pPr>
            <a:r>
              <a:rPr lang="en-US" sz="2800" b="1" dirty="0">
                <a:solidFill>
                  <a:srgbClr val="00FF00"/>
                </a:solidFill>
              </a:rPr>
              <a:t>Remove the last digit of the number</a:t>
            </a:r>
          </a:p>
          <a:p>
            <a:pPr marL="514350" indent="-514350">
              <a:buAutoNum type="alphaLcPeriod"/>
            </a:pPr>
            <a:r>
              <a:rPr lang="en-US" sz="2800" b="1" dirty="0">
                <a:solidFill>
                  <a:srgbClr val="00FF00"/>
                </a:solidFill>
              </a:rPr>
              <a:t>Remove the last two digit of the number</a:t>
            </a:r>
          </a:p>
          <a:p>
            <a:endParaRPr lang="en-IN" sz="2800" b="1" dirty="0"/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C82E53E3-A59B-D061-4B69-C0F47168E9A0}"/>
              </a:ext>
            </a:extLst>
          </p:cNvPr>
          <p:cNvSpPr txBox="1">
            <a:spLocks/>
          </p:cNvSpPr>
          <p:nvPr/>
        </p:nvSpPr>
        <p:spPr>
          <a:xfrm>
            <a:off x="58642" y="3312568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5AFF95DB-5E90-F0CB-C5B2-A05EE38E499D}"/>
              </a:ext>
            </a:extLst>
          </p:cNvPr>
          <p:cNvSpPr txBox="1">
            <a:spLocks/>
          </p:cNvSpPr>
          <p:nvPr/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8B4583-6C95-68D1-43EE-4E0B4B895C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</p:spPr>
        <p:txBody>
          <a:bodyPr/>
          <a:lstStyle/>
          <a:p>
            <a:fld id="{11767B38-7CE4-441C-AFB3-CB763D3A4F2F}" type="datetime1">
              <a:rPr lang="en-US" smtClean="0"/>
              <a:t>7/11/2026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6250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E00014-2C3B-9085-9A77-CF15CFF1B4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25E88-87BB-D3B1-C37A-C62803BFDD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34BB53-5B2F-2BA2-494B-793DB4588690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 a given three-digit number int n=578;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Print each digit of the number one by one from Right to Left.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o/p:</a:t>
            </a:r>
            <a:endParaRPr lang="en-US" sz="2600" b="1" dirty="0">
              <a:solidFill>
                <a:srgbClr val="00FF00"/>
              </a:solidFill>
            </a:endParaRPr>
          </a:p>
          <a:p>
            <a:pPr marL="0" indent="0">
              <a:buNone/>
            </a:pPr>
            <a:r>
              <a:rPr lang="en-US" sz="2600" b="1" dirty="0">
                <a:solidFill>
                  <a:srgbClr val="00FF00"/>
                </a:solidFill>
              </a:rPr>
              <a:t>8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FF00"/>
                </a:solidFill>
              </a:rPr>
              <a:t>7</a:t>
            </a:r>
          </a:p>
          <a:p>
            <a:pPr marL="0" indent="0">
              <a:buNone/>
            </a:pPr>
            <a:r>
              <a:rPr lang="en-US" sz="2600" b="1" dirty="0">
                <a:solidFill>
                  <a:srgbClr val="00FF00"/>
                </a:solidFill>
              </a:rPr>
              <a:t>5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C63CAB-60ED-7173-16D9-B5C6D2EE70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2F96E2-BD3D-51EC-D56E-CBF6DDD68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96C9B2A-222C-FF4C-3540-7ED96A3E0659}"/>
              </a:ext>
            </a:extLst>
          </p:cNvPr>
          <p:cNvSpPr txBox="1">
            <a:spLocks/>
          </p:cNvSpPr>
          <p:nvPr/>
        </p:nvSpPr>
        <p:spPr>
          <a:xfrm>
            <a:off x="228600" y="1630392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2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A49D2FCB-B80A-8806-E3FB-447BA04EDFFA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32AB1E7-CF54-17AB-63CB-718779B0042C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7827163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WAJP to swap two numbers.</a:t>
            </a:r>
          </a:p>
          <a:p>
            <a:pPr marL="914400" lvl="1" indent="-514350">
              <a:buAutoNum type="alphaLcPeriod"/>
            </a:pPr>
            <a:r>
              <a:rPr lang="en-US" sz="3200" b="1" dirty="0">
                <a:solidFill>
                  <a:srgbClr val="00FF00"/>
                </a:solidFill>
              </a:rPr>
              <a:t>With using a third variable</a:t>
            </a:r>
          </a:p>
          <a:p>
            <a:pPr marL="914400" lvl="1" indent="-514350">
              <a:buAutoNum type="alphaLcPeriod"/>
            </a:pPr>
            <a:r>
              <a:rPr lang="en-US" sz="3200" b="1" dirty="0">
                <a:solidFill>
                  <a:srgbClr val="00FF00"/>
                </a:solidFill>
              </a:rPr>
              <a:t>Without using third 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3078FD-E814-D5C4-9B59-AC9D289456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843800-59CE-70E2-257B-E26CD8E590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AD8124FA-FA3D-355C-38C3-577F7CDD2E86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3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9581DC-3319-66D6-2952-718741C89D57}"/>
              </a:ext>
            </a:extLst>
          </p:cNvPr>
          <p:cNvSpPr/>
          <p:nvPr/>
        </p:nvSpPr>
        <p:spPr>
          <a:xfrm rot="19756096">
            <a:off x="5426034" y="4450324"/>
            <a:ext cx="3101940" cy="914400"/>
          </a:xfrm>
          <a:prstGeom prst="roundRect">
            <a:avLst/>
          </a:prstGeom>
          <a:solidFill>
            <a:srgbClr val="FFC000"/>
          </a:solidFill>
          <a:ln>
            <a:solidFill>
              <a:schemeClr val="tx1"/>
            </a:solidFill>
            <a:prstDash val="lgDashDotDot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IN" sz="2800" b="1" dirty="0">
                <a:solidFill>
                  <a:srgbClr val="002060"/>
                </a:solidFill>
              </a:rPr>
              <a:t>Important</a:t>
            </a:r>
          </a:p>
          <a:p>
            <a:pPr algn="ctr"/>
            <a:r>
              <a:rPr lang="en-IN" sz="2800" b="1" dirty="0">
                <a:solidFill>
                  <a:srgbClr val="002060"/>
                </a:solidFill>
              </a:rPr>
              <a:t>Don’t leave it..!!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F51E6EC-4E45-C52C-3B3A-32E8DE0B69B4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B8ED3C72-1740-4C84-6C9C-EF64CFBB1044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38324841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3E3B9-8C78-53DE-0BB9-AC42ED1CC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2436EE-D09E-0AC8-8CA2-CE168925F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03B9EC-EE80-6D20-3BC9-71908C0F7C2E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 the given three numbers. Swap 1</a:t>
            </a:r>
            <a:r>
              <a:rPr lang="en-US" b="1" baseline="30000" dirty="0">
                <a:solidFill>
                  <a:srgbClr val="00FF00"/>
                </a:solidFill>
              </a:rPr>
              <a:t>st</a:t>
            </a:r>
            <a:r>
              <a:rPr lang="en-US" b="1" dirty="0">
                <a:solidFill>
                  <a:srgbClr val="00FF00"/>
                </a:solidFill>
              </a:rPr>
              <a:t> into 2</a:t>
            </a:r>
            <a:r>
              <a:rPr lang="en-US" b="1" baseline="30000" dirty="0">
                <a:solidFill>
                  <a:srgbClr val="00FF00"/>
                </a:solidFill>
              </a:rPr>
              <a:t>nd</a:t>
            </a:r>
            <a:r>
              <a:rPr lang="en-US" b="1" dirty="0">
                <a:solidFill>
                  <a:srgbClr val="00FF00"/>
                </a:solidFill>
              </a:rPr>
              <a:t>, 2</a:t>
            </a:r>
            <a:r>
              <a:rPr lang="en-US" b="1" baseline="30000" dirty="0">
                <a:solidFill>
                  <a:srgbClr val="00FF00"/>
                </a:solidFill>
              </a:rPr>
              <a:t>nd</a:t>
            </a:r>
            <a:r>
              <a:rPr lang="en-US" b="1" dirty="0">
                <a:solidFill>
                  <a:srgbClr val="00FF00"/>
                </a:solidFill>
              </a:rPr>
              <a:t> into 3</a:t>
            </a:r>
            <a:r>
              <a:rPr lang="en-US" b="1" baseline="30000" dirty="0">
                <a:solidFill>
                  <a:srgbClr val="00FF00"/>
                </a:solidFill>
              </a:rPr>
              <a:t>rd</a:t>
            </a:r>
            <a:r>
              <a:rPr lang="en-US" b="1" dirty="0">
                <a:solidFill>
                  <a:srgbClr val="00FF00"/>
                </a:solidFill>
              </a:rPr>
              <a:t> and 3</a:t>
            </a:r>
            <a:r>
              <a:rPr lang="en-US" b="1" baseline="30000" dirty="0">
                <a:solidFill>
                  <a:srgbClr val="00FF00"/>
                </a:solidFill>
              </a:rPr>
              <a:t>rd</a:t>
            </a:r>
            <a:r>
              <a:rPr lang="en-US" b="1" dirty="0">
                <a:solidFill>
                  <a:srgbClr val="00FF00"/>
                </a:solidFill>
              </a:rPr>
              <a:t> into 1</a:t>
            </a:r>
            <a:r>
              <a:rPr lang="en-US" b="1" baseline="30000" dirty="0">
                <a:solidFill>
                  <a:srgbClr val="00FF00"/>
                </a:solidFill>
              </a:rPr>
              <a:t>st</a:t>
            </a:r>
            <a:r>
              <a:rPr lang="en-US" b="1" dirty="0">
                <a:solidFill>
                  <a:srgbClr val="00FF00"/>
                </a:solidFill>
              </a:rPr>
              <a:t>  number.</a:t>
            </a:r>
          </a:p>
          <a:p>
            <a:pPr marL="914400" lvl="1" indent="-514350">
              <a:buAutoNum type="alphaLcPeriod"/>
            </a:pPr>
            <a:r>
              <a:rPr lang="en-US" sz="3200" b="1" dirty="0">
                <a:solidFill>
                  <a:srgbClr val="00FF00"/>
                </a:solidFill>
              </a:rPr>
              <a:t>With using fourth variable</a:t>
            </a:r>
          </a:p>
          <a:p>
            <a:pPr marL="914400" lvl="1" indent="-514350">
              <a:buAutoNum type="alphaLcPeriod"/>
            </a:pPr>
            <a:r>
              <a:rPr lang="en-US" sz="3200" b="1" dirty="0">
                <a:solidFill>
                  <a:srgbClr val="00FF00"/>
                </a:solidFill>
              </a:rPr>
              <a:t>Without </a:t>
            </a:r>
            <a:r>
              <a:rPr lang="en-US" sz="3200" b="1">
                <a:solidFill>
                  <a:srgbClr val="00FF00"/>
                </a:solidFill>
              </a:rPr>
              <a:t>using fourth </a:t>
            </a:r>
            <a:r>
              <a:rPr lang="en-US" sz="3200" b="1" dirty="0">
                <a:solidFill>
                  <a:srgbClr val="00FF00"/>
                </a:solidFill>
              </a:rPr>
              <a:t>variable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35EFEF-91C3-FFB9-F222-2497B783B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5E31B4-CED3-E67A-2702-039019B42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07CFDC23-6A56-1006-0DA5-2C420006AD91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4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89EB0188-0AD0-A10C-4959-850F43729B11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183E720E-CB0B-7205-1B08-2A2560C5C3CA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674710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B813A-D3C6-31D9-5023-1892C1FF7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959879-F12B-25FB-EE40-7352FE3FA3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0EF659-8340-5A2B-AA2F-98172C2AB5E9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 the given CP and SP. Calculate %Profit.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FF00"/>
                </a:solidFill>
              </a:rPr>
              <a:t>CP=120;</a:t>
            </a:r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SP=160;</a:t>
            </a:r>
            <a:endParaRPr lang="en-US" sz="3200" b="1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C474D-C154-02B0-B937-806F63F1C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DED229-A6FE-112B-ABF5-EA36DF968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ECBF0225-201B-C42B-258A-E3019A76C936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5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4A0FE23-E897-3A34-7FAC-8735842F9493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47CB81C8-096B-8C20-97E4-1A64C8419D80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19219087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1D157-7128-A845-2B78-0DD0F096C1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B16692-16BB-492C-DD8C-14CECF5F1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815D8-D889-B7CB-60C8-DBEDC629DD28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00FF00"/>
                </a:solidFill>
              </a:rPr>
              <a:t>For the given CP and SP. Calculate %Loss.</a:t>
            </a:r>
          </a:p>
          <a:p>
            <a:pPr marL="0" indent="0">
              <a:buNone/>
            </a:pPr>
            <a:r>
              <a:rPr lang="en-US" sz="3200" b="1" dirty="0">
                <a:solidFill>
                  <a:srgbClr val="00FF00"/>
                </a:solidFill>
              </a:rPr>
              <a:t>CP=120;</a:t>
            </a:r>
          </a:p>
          <a:p>
            <a:pPr marL="0" indent="0">
              <a:buNone/>
            </a:pPr>
            <a:r>
              <a:rPr lang="en-US" b="1">
                <a:solidFill>
                  <a:srgbClr val="00FF00"/>
                </a:solidFill>
              </a:rPr>
              <a:t>SP=90;</a:t>
            </a:r>
            <a:endParaRPr lang="en-US" sz="3200" b="1" dirty="0">
              <a:solidFill>
                <a:srgbClr val="00FF00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E386E-EA3D-A3B7-5077-E06EE9835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E702A9-B7B9-93EA-2BFA-659636BFB4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C9E060B-76DC-0E11-AE4C-730343D8EC1D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6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04C669C6-7093-2347-34E2-7E790E09BFDD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644F396-3D82-545F-0F47-AFE1FBA42278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730377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C8A1F9-73BD-D648-CFF7-C4E15F4B2B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FE7A9F-4AB2-31CD-400D-E37ECFC3C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7912CC-3919-8393-7BDB-F1D6BB484E51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IN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Add Two Integers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FDB4B8-B4AD-E062-6A08-722A9BDEF5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55C624-4F37-68A0-34DB-4453BA1AF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FE465BE0-4C5C-3756-5687-48B31510D947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7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F7335298-5B8F-7D10-2751-A636FB62474D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ABE45805-CEA2-B3A4-6091-D882307D13DA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858619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FC5B70-4EEE-4BB0-4738-F8DDFCAF8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67524-B43C-F15F-60E7-441707D278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>
            <a:noAutofit/>
          </a:bodyPr>
          <a:lstStyle/>
          <a:p>
            <a:r>
              <a:rPr lang="en-US" sz="3200" b="1" u="sng" dirty="0">
                <a:solidFill>
                  <a:srgbClr val="00FF00"/>
                </a:solidFill>
              </a:rPr>
              <a:t>Conditional 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DE0E8-05CF-DF92-3AB8-646CEE9AAD2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541734"/>
            <a:ext cx="8077200" cy="6415882"/>
          </a:xfrm>
          <a:noFill/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80010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80010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800100" indent="0">
              <a:lnSpc>
                <a:spcPct val="107000"/>
              </a:lnSpc>
              <a:spcAft>
                <a:spcPts val="800"/>
              </a:spcAft>
              <a:buNone/>
            </a:pPr>
            <a:endParaRPr lang="en-US" dirty="0">
              <a:solidFill>
                <a:srgbClr val="00FF00"/>
              </a:solidFill>
            </a:endParaRPr>
          </a:p>
          <a:p>
            <a:pPr marL="800100" indent="0">
              <a:lnSpc>
                <a:spcPct val="107000"/>
              </a:lnSpc>
              <a:spcAft>
                <a:spcPts val="800"/>
              </a:spcAft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Calculate Delayed Arrival Time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5776C-EEC9-CE07-84AC-7DED937117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687CF22-8E62-4227-B7FF-4927ABD59226}" type="datetime1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7/11/2026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EEAFA4-5BA3-C614-A666-2C41210E3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676400" y="6356350"/>
            <a:ext cx="5867400" cy="365125"/>
          </a:xfrm>
        </p:spPr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400" b="1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@QSpiders, NOIDA          Instagram: @javac_java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ADF18C-1EB9-430E-852F-3AE615B6A3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6F15528-21DE-4FAA-801E-634DDDAF4B2B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7A910ACF-7381-DFE1-6F47-2E9E8269E167}"/>
              </a:ext>
            </a:extLst>
          </p:cNvPr>
          <p:cNvSpPr txBox="1">
            <a:spLocks/>
          </p:cNvSpPr>
          <p:nvPr/>
        </p:nvSpPr>
        <p:spPr>
          <a:xfrm>
            <a:off x="549215" y="1283137"/>
            <a:ext cx="9906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Q</a:t>
            </a:r>
            <a:fld id="{B6F15528-21DE-4FAA-801E-634DDDAF4B2B}" type="slidenum">
              <a:rPr kumimoji="0" lang="en-US" sz="4800" b="1" i="0" u="none" strike="noStrike" kern="1200" cap="none" spc="0" normalizeH="0" baseline="0" noProof="0" smtClean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4800" b="1" i="0" u="none" strike="noStrike" kern="1200" cap="none" spc="0" normalizeH="0" baseline="0" noProof="0" dirty="0">
              <a:ln>
                <a:noFill/>
              </a:ln>
              <a:solidFill>
                <a:srgbClr val="FFC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DE737B3-80D1-0618-E47C-C8BB6316F491}"/>
              </a:ext>
            </a:extLst>
          </p:cNvPr>
          <p:cNvSpPr/>
          <p:nvPr/>
        </p:nvSpPr>
        <p:spPr>
          <a:xfrm>
            <a:off x="152400" y="26408"/>
            <a:ext cx="8839200" cy="36512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       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SHAMBHU KUMAR QSpiders |JSpiders | </a:t>
            </a:r>
            <a:r>
              <a:rPr kumimoji="0" lang="en-IN" sz="20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PySpiders</a:t>
            </a:r>
            <a:r>
              <a:rPr kumimoji="0" lang="en-IN" sz="20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NOIDA</a:t>
            </a:r>
          </a:p>
        </p:txBody>
      </p:sp>
    </p:spTree>
    <p:extLst>
      <p:ext uri="{BB962C8B-B14F-4D97-AF65-F5344CB8AC3E}">
        <p14:creationId xmlns:p14="http://schemas.microsoft.com/office/powerpoint/2010/main" val="7145163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E25AF4-4F30-31C9-CDB2-7F4EE0DC8F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3BCA47-F74A-EFD3-FC9F-90B967D654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99BD93-62C4-F391-F13B-6C646AE58612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Find the Maximum Achievable Number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CDB845-C2B3-ED72-69EA-A06A47A6A6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CF41AA-4E2E-B3EB-76D8-C8E579C30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32DF33EC-7C06-A129-0EFD-33D3018A7198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0668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9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DD4C12B5-9089-7661-E7A4-B495D4ADB8B6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D922BF6-9485-021D-F09C-63FF732A1112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5774298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7AB4C-9B1D-D4D6-6D02-E3225D22C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6F3527-C889-3DDB-415B-8F3AF8806E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>
                <a:solidFill>
                  <a:srgbClr val="00FF00"/>
                </a:solidFill>
              </a:rPr>
              <a:t>Operator based Programming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06472-3202-8ECC-BE93-2DD984CBF3E7}"/>
              </a:ext>
            </a:extLst>
          </p:cNvPr>
          <p:cNvSpPr>
            <a:spLocks noGrp="1"/>
          </p:cNvSpPr>
          <p:nvPr>
            <p:ph idx="1"/>
          </p:nvPr>
        </p:nvSpPr>
        <p:spPr>
          <a:noFill/>
        </p:spPr>
        <p:txBody>
          <a:bodyPr/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>
              <a:solidFill>
                <a:srgbClr val="5F5F5F"/>
              </a:solidFill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marL="0" indent="0">
              <a:buNone/>
            </a:pPr>
            <a:r>
              <a:rPr lang="en-US" b="1" dirty="0">
                <a:solidFill>
                  <a:srgbClr val="BBF96F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Account Balance After Rounded Purchase</a:t>
            </a:r>
            <a:endParaRPr lang="en-US" b="1" dirty="0">
              <a:solidFill>
                <a:srgbClr val="BBF96F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921F2-13D8-C6A3-FFFE-2B37E44FA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0B18BE-621F-4748-8699-B122269EC4AF}" type="datetime1">
              <a:rPr lang="en-US" smtClean="0"/>
              <a:t>7/11/2026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523BBA-3276-DED1-786B-74D7E496D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sp>
        <p:nvSpPr>
          <p:cNvPr id="7" name="Slide Number Placeholder 4">
            <a:extLst>
              <a:ext uri="{FF2B5EF4-FFF2-40B4-BE49-F238E27FC236}">
                <a16:creationId xmlns:a16="http://schemas.microsoft.com/office/drawing/2014/main" id="{2FB84661-F1D3-C3F7-997A-3E02F402CA40}"/>
              </a:ext>
            </a:extLst>
          </p:cNvPr>
          <p:cNvSpPr txBox="1">
            <a:spLocks/>
          </p:cNvSpPr>
          <p:nvPr/>
        </p:nvSpPr>
        <p:spPr>
          <a:xfrm>
            <a:off x="228600" y="2057400"/>
            <a:ext cx="1295400" cy="8382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4800" b="1" dirty="0">
                <a:solidFill>
                  <a:srgbClr val="FFC000"/>
                </a:solidFill>
              </a:rPr>
              <a:t>Q</a:t>
            </a:r>
            <a:fld id="{B6F15528-21DE-4FAA-801E-634DDDAF4B2B}" type="slidenum">
              <a:rPr lang="en-US" sz="4800" b="1" smtClean="0">
                <a:solidFill>
                  <a:srgbClr val="FFC000"/>
                </a:solidFill>
              </a:rPr>
              <a:pPr/>
              <a:t>10</a:t>
            </a:fld>
            <a:endParaRPr lang="en-US" sz="4800" b="1" dirty="0">
              <a:solidFill>
                <a:srgbClr val="FFC000"/>
              </a:solidFill>
            </a:endParaRP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4708A88D-DE89-E3FF-331A-00ED81F43200}"/>
              </a:ext>
            </a:extLst>
          </p:cNvPr>
          <p:cNvSpPr>
            <a:spLocks noGrp="1"/>
          </p:cNvSpPr>
          <p:nvPr/>
        </p:nvSpPr>
        <p:spPr>
          <a:xfrm>
            <a:off x="1747895" y="6356350"/>
            <a:ext cx="56482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400" b="1" dirty="0"/>
              <a:t>Shambhu Kumar @QSpiders, NOIDA          Instagram: @javac_java</a:t>
            </a:r>
            <a:endParaRPr lang="en-US" sz="1400" b="1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51FF646-C1A2-A644-9CF2-4395D95DFA7C}"/>
              </a:ext>
            </a:extLst>
          </p:cNvPr>
          <p:cNvSpPr/>
          <p:nvPr/>
        </p:nvSpPr>
        <p:spPr>
          <a:xfrm>
            <a:off x="152399" y="92076"/>
            <a:ext cx="8839200" cy="433120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1" dirty="0"/>
              <a:t>        </a:t>
            </a:r>
            <a:r>
              <a:rPr lang="en-IN" sz="2000" b="1" dirty="0"/>
              <a:t>SHAMBHU KUMAR QSpiders |JSpiders, NOIDA</a:t>
            </a:r>
          </a:p>
        </p:txBody>
      </p:sp>
    </p:spTree>
    <p:extLst>
      <p:ext uri="{BB962C8B-B14F-4D97-AF65-F5344CB8AC3E}">
        <p14:creationId xmlns:p14="http://schemas.microsoft.com/office/powerpoint/2010/main" val="23098801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Angles">
      <a:dk1>
        <a:srgbClr val="000000"/>
      </a:dk1>
      <a:lt1>
        <a:srgbClr val="FFFFFF"/>
      </a:lt1>
      <a:dk2>
        <a:srgbClr val="434342"/>
      </a:dk2>
      <a:lt2>
        <a:srgbClr val="CDD7D9"/>
      </a:lt2>
      <a:accent1>
        <a:srgbClr val="797B7E"/>
      </a:accent1>
      <a:accent2>
        <a:srgbClr val="F96A1B"/>
      </a:accent2>
      <a:accent3>
        <a:srgbClr val="08A1D9"/>
      </a:accent3>
      <a:accent4>
        <a:srgbClr val="7C984A"/>
      </a:accent4>
      <a:accent5>
        <a:srgbClr val="C2AD8D"/>
      </a:accent5>
      <a:accent6>
        <a:srgbClr val="506E94"/>
      </a:accent6>
      <a:hlink>
        <a:srgbClr val="5F5F5F"/>
      </a:hlink>
      <a:folHlink>
        <a:srgbClr val="96969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2588</TotalTime>
  <Words>465</Words>
  <Application>Microsoft Office PowerPoint</Application>
  <PresentationFormat>On-screen Show (4:3)</PresentationFormat>
  <Paragraphs>118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Times New Roman</vt:lpstr>
      <vt:lpstr>Office Theme</vt:lpstr>
      <vt:lpstr>1_Office Theme</vt:lpstr>
      <vt:lpstr>PowerPoint Presentation</vt:lpstr>
      <vt:lpstr>Operator based Programming</vt:lpstr>
      <vt:lpstr>Operator based Programming</vt:lpstr>
      <vt:lpstr>Operator based Programming</vt:lpstr>
      <vt:lpstr>Operator based Programming</vt:lpstr>
      <vt:lpstr>Operator based Programming</vt:lpstr>
      <vt:lpstr>Operator based Programming</vt:lpstr>
      <vt:lpstr>Conditional Operator based Programming</vt:lpstr>
      <vt:lpstr>Operator based Programming</vt:lpstr>
      <vt:lpstr>Operator based Programming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Qspiders</dc:creator>
  <cp:lastModifiedBy>Shambhu Kumar</cp:lastModifiedBy>
  <cp:revision>12</cp:revision>
  <dcterms:created xsi:type="dcterms:W3CDTF">2006-08-16T00:00:00Z</dcterms:created>
  <dcterms:modified xsi:type="dcterms:W3CDTF">2026-07-11T00:23:07Z</dcterms:modified>
</cp:coreProperties>
</file>